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>
        <p:scale>
          <a:sx n="84" d="100"/>
          <a:sy n="84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53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98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85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74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3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74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6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55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50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68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62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/>
          <p:cNvSpPr>
            <a:spLocks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 w="15875" cap="flat" cmpd="sng">
            <a:noFill/>
            <a:prstDash val="solid"/>
            <a:round/>
          </a:ln>
        </p:spPr>
      </p:sp>
      <p:sp>
        <p:nvSpPr>
          <p:cNvPr id="16" name="Rectangle"/>
          <p:cNvSpPr>
            <a:spLocks/>
          </p:cNvSpPr>
          <p:nvPr/>
        </p:nvSpPr>
        <p:spPr>
          <a:xfrm>
            <a:off x="0" y="6334316"/>
            <a:ext cx="12192002" cy="65997"/>
          </a:xfrm>
          <a:prstGeom prst="rect">
            <a:avLst/>
          </a:prstGeom>
          <a:solidFill>
            <a:schemeClr val="accent1"/>
          </a:solidFill>
          <a:ln w="15875" cap="flat" cmpd="sng">
            <a:noFill/>
            <a:prstDash val="solid"/>
            <a:round/>
          </a:ln>
        </p:spPr>
      </p:sp>
      <p:sp>
        <p:nvSpPr>
          <p:cNvPr id="15" name="Straight line"/>
          <p:cNvSpPr>
            <a:spLocks/>
          </p:cNvSpPr>
          <p:nvPr/>
        </p:nvSpPr>
        <p:spPr>
          <a:xfrm>
            <a:off x="1193532" y="1737845"/>
            <a:ext cx="9966960" cy="0"/>
          </a:xfrm>
          <a:prstGeom prst="line">
            <a:avLst/>
          </a:prstGeom>
          <a:noFill/>
          <a:ln w="6350" cap="flat" cmpd="sng">
            <a:solidFill>
              <a:srgbClr val="80808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/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1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2" name="Text box"/>
          <p:cNvSpPr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900">
                <a:solidFill>
                  <a:srgbClr val="FFFFFF"/>
                </a:solidFill>
                <a:latin typeface="Arial" charset="0"/>
                <a:ea typeface="黑体" charset="0"/>
                <a:cs typeface="Arial" charset="0"/>
              </a:rPr>
              <a:t>Date/Time</a:t>
            </a:r>
            <a:endParaRPr lang="zh-CN" altLang="en-US" sz="90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13" name="Text box"/>
          <p:cNvSpPr>
            <a:spLocks noGrp="1"/>
          </p:cNvSpPr>
          <p:nvPr>
            <p:ph type="ftr" idx="11"/>
          </p:nvPr>
        </p:nvSpPr>
        <p:spPr>
          <a:xfrm>
            <a:off x="3686184" y="6459785"/>
            <a:ext cx="482280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900" cap="all" baseline="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sldNum" idx="12"/>
          </p:nvPr>
        </p:nvSpPr>
        <p:spPr>
          <a:xfrm>
            <a:off x="9900457" y="6459785"/>
            <a:ext cx="1312024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5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黑体" charset="0"/>
                <a:cs typeface="Arial" charset="0"/>
              </a:rPr>
              <a:t>‹#›</a:t>
            </a:fld>
            <a:endParaRPr lang="zh-CN" altLang="en-US" sz="105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013391"/>
      </p:ext>
    </p:extLst>
  </p:cSld>
  <p:clrMapOvr>
    <a:masterClrMapping/>
  </p:clrMapOvr>
  <p:hf sldNum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>
            <a:spLocks/>
          </p:cNvSpPr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 w="15875" cap="flat" cmpd="sng">
            <a:noFill/>
            <a:prstDash val="solid"/>
            <a:round/>
          </a:ln>
        </p:spPr>
      </p:sp>
      <p:sp>
        <p:nvSpPr>
          <p:cNvPr id="3" name="Rectangle"/>
          <p:cNvSpPr>
            <a:spLocks/>
          </p:cNvSpPr>
          <p:nvPr/>
        </p:nvSpPr>
        <p:spPr>
          <a:xfrm>
            <a:off x="0" y="6334316"/>
            <a:ext cx="12192002" cy="65997"/>
          </a:xfrm>
          <a:prstGeom prst="rect">
            <a:avLst/>
          </a:prstGeom>
          <a:solidFill>
            <a:schemeClr val="accent1"/>
          </a:solidFill>
          <a:ln w="15875" cap="flat" cmpd="sng">
            <a:noFill/>
            <a:prstDash val="solid"/>
            <a:round/>
          </a:ln>
        </p:spPr>
      </p:sp>
      <p:sp>
        <p:nvSpPr>
          <p:cNvPr id="4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45720" rIns="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dt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900">
                <a:solidFill>
                  <a:srgbClr val="FFFFFF"/>
                </a:solidFill>
                <a:latin typeface="Arial" charset="0"/>
                <a:ea typeface="黑体" charset="0"/>
                <a:cs typeface="Arial" charset="0"/>
              </a:rPr>
              <a:t>5/6/2026</a:t>
            </a:fld>
            <a:endParaRPr lang="zh-CN" altLang="en-US" sz="90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ftr" idx="3"/>
          </p:nvPr>
        </p:nvSpPr>
        <p:spPr>
          <a:xfrm>
            <a:off x="3686184" y="6459785"/>
            <a:ext cx="482280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900" cap="all" baseline="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sldNum" idx="4"/>
          </p:nvPr>
        </p:nvSpPr>
        <p:spPr>
          <a:xfrm>
            <a:off x="9900457" y="6459785"/>
            <a:ext cx="1312024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050" b="0" i="0" u="none" strike="noStrike" kern="1200" cap="none" spc="0" baseline="0">
                <a:solidFill>
                  <a:srgbClr val="FFFFFF"/>
                </a:solidFill>
                <a:latin typeface="Arial" charset="0"/>
                <a:ea typeface="黑体" charset="0"/>
                <a:cs typeface="Arial" charset="0"/>
              </a:rPr>
              <a:t>‹#›</a:t>
            </a:fld>
            <a:endParaRPr lang="zh-CN" altLang="en-US" sz="1050">
              <a:solidFill>
                <a:srgbClr val="FFFFFF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9" name="Straight line"/>
          <p:cNvSpPr>
            <a:spLocks/>
          </p:cNvSpPr>
          <p:nvPr/>
        </p:nvSpPr>
        <p:spPr>
          <a:xfrm>
            <a:off x="1193532" y="1737845"/>
            <a:ext cx="9966960" cy="0"/>
          </a:xfrm>
          <a:prstGeom prst="line">
            <a:avLst/>
          </a:prstGeom>
          <a:noFill/>
          <a:ln w="6350" cap="flat" cmpd="sng">
            <a:solidFill>
              <a:srgbClr val="808080"/>
            </a:solidFill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189117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lnSpc>
          <a:spcPct val="85000"/>
        </a:lnSpc>
        <a:spcBef>
          <a:spcPts val="0"/>
        </a:spcBef>
        <a:buNone/>
        <a:defRPr sz="4800" kern="1200" spc="-50" baseline="0">
          <a:solidFill>
            <a:srgbClr val="404040"/>
          </a:solidFill>
          <a:latin typeface="Arial" charset="0"/>
          <a:ea typeface="黑体" charset="0"/>
          <a:cs typeface="Arial" charset="0"/>
        </a:defRPr>
      </a:lvl1pPr>
    </p:titleStyle>
    <p:bodyStyle>
      <a:lvl1pPr marL="91440" indent="-91440" algn="l" defTabSz="914400" eaLnBrk="1" fontAlgn="auto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itchFamily="34" charset="0"/>
        <a:buChar char=" "/>
        <a:defRPr sz="20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1pPr>
      <a:lvl2pPr marL="384048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2pPr>
      <a:lvl3pPr marL="566928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3pPr>
      <a:lvl4pPr marL="749808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4pPr>
      <a:lvl5pPr marL="932688" indent="-18288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5pPr>
      <a:lvl6pPr marL="1099947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6pPr>
      <a:lvl7pPr marL="1299972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7pPr>
      <a:lvl8pPr marL="1499997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8pPr>
      <a:lvl9pPr marL="1499997" indent="-228600" algn="l" defTabSz="91440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rgbClr val="404040"/>
          </a:solidFill>
          <a:latin typeface="Arial" charset="0"/>
          <a:ea typeface="黑体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"/>
          <p:cNvSpPr>
            <a:spLocks noGrp="1"/>
          </p:cNvSpPr>
          <p:nvPr>
            <p:ph type="title"/>
          </p:nvPr>
        </p:nvSpPr>
        <p:spPr>
          <a:xfrm>
            <a:off x="1" y="1739484"/>
            <a:ext cx="12368462" cy="136899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ONLINE FOOD ORDERING SYSTEM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19" name="Rectangle"/>
          <p:cNvSpPr>
            <a:spLocks/>
          </p:cNvSpPr>
          <p:nvPr/>
        </p:nvSpPr>
        <p:spPr>
          <a:xfrm>
            <a:off x="7589520" y="4267201"/>
            <a:ext cx="4602480" cy="15392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GUIDED BY</a:t>
            </a:r>
          </a:p>
          <a:p>
            <a:pPr mar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A.MALARMANNAN M.E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20" name="Rectangle"/>
          <p:cNvSpPr>
            <a:spLocks/>
          </p:cNvSpPr>
          <p:nvPr/>
        </p:nvSpPr>
        <p:spPr>
          <a:xfrm>
            <a:off x="782320" y="3540759"/>
            <a:ext cx="4998720" cy="2453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SHOBANA M (2403811720522051)</a:t>
            </a:r>
          </a:p>
          <a:p>
            <a:pPr marL="0" indent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SIVARANJANI S (2403811720522052)</a:t>
            </a:r>
          </a:p>
          <a:p>
            <a:pPr marL="0" indent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SWETHA M (2403811720522055)</a:t>
            </a:r>
          </a:p>
          <a:p>
            <a:pPr marL="0" indent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TAMILAZHAKI A (2403811720522056)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rial" charset="0"/>
              <a:ea typeface="黑体" charset="0"/>
              <a:cs typeface="Arial" charset="0"/>
            </a:endParaRPr>
          </a:p>
        </p:txBody>
      </p:sp>
      <p:sp>
        <p:nvSpPr>
          <p:cNvPr id="21" name="Rectangle"/>
          <p:cNvSpPr>
            <a:spLocks/>
          </p:cNvSpPr>
          <p:nvPr/>
        </p:nvSpPr>
        <p:spPr>
          <a:xfrm>
            <a:off x="2204720" y="488836"/>
            <a:ext cx="6873240" cy="11772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Arial" charset="0"/>
                <a:ea typeface="黑体" charset="0"/>
                <a:cs typeface="Arial" charset="0"/>
              </a:rPr>
              <a:t>K.RAMAKRISHNAN COLLEGE OF TECHNOLOGY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Arial" charset="0"/>
              <a:ea typeface="黑体" charset="0"/>
              <a:cs typeface="Arial" charset="0"/>
            </a:endParaRPr>
          </a:p>
        </p:txBody>
      </p:sp>
      <p:pic>
        <p:nvPicPr>
          <p:cNvPr id="22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859" y="57526"/>
            <a:ext cx="1262964" cy="1631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23" name="Image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04081" y="334501"/>
            <a:ext cx="1496695" cy="92238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362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Problem Definition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25" name="Text box"/>
          <p:cNvSpPr>
            <a:spLocks noGrp="1"/>
          </p:cNvSpPr>
          <p:nvPr>
            <p:ph type="body" idx="1"/>
          </p:nvPr>
        </p:nvSpPr>
        <p:spPr>
          <a:xfrm>
            <a:off x="1097280" y="1737360"/>
            <a:ext cx="10058401" cy="43389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Manual ordering is time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consuming and error-prone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No centralized system to manage orders and restaurants 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Lack of real-time tracking and payment integration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Difficulty in managing large volumes of customer data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796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Objectives of the Project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27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To design and implement a relational database for food ordering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To manage customers, restaurants, menus, orders, and payments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To apply normalization for efficient data storage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To implement SQL queries for data retrieval and manipulation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87307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System Requirements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29" name="Text box"/>
          <p:cNvSpPr>
            <a:spLocks noGrp="1"/>
          </p:cNvSpPr>
          <p:nvPr>
            <p:ph type="body" idx="1"/>
          </p:nvPr>
        </p:nvSpPr>
        <p:spPr>
          <a:xfrm>
            <a:off x="936859" y="1958028"/>
            <a:ext cx="10379242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Hardware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-Processor, RAM, Storage-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Software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-MySQL / Oracle, SQL Developer / Workbench-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OS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-Windows / Linux-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Frontend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(if any)- HTML, PHP or Python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2329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" descr="Double tap to add title&#13;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/>
              <a:t>System Architecture </a:t>
            </a:r>
            <a:endParaRPr lang="zh-CN" altLang="en-US"/>
          </a:p>
        </p:txBody>
      </p:sp>
      <p:pic>
        <p:nvPicPr>
          <p:cNvPr id="58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6284" y="2024031"/>
            <a:ext cx="8239432" cy="424654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9740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ER Diagram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pic>
        <p:nvPicPr>
          <p:cNvPr id="37" name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1084" y="1846263"/>
            <a:ext cx="8249264" cy="446006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62256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Relational Schema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39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Customer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(CustID, Name, Email, Phone, Address)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Restaurant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(RestID, Name, Location, Cuisine) 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Menu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(ItemID, RestID, ItemName, Price, Category)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Orders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(OrderID, CustID, RestID, Date, Status, Total)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OrderItems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(OrderID, ItemID, Quantity, Price) 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Payment 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(PayID, OrderID, Method, Amount, Status)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Delivery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(DelID, OrderID, PartnerID, Status, Time)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2146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" descr="Double tap to add title&#13;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/>
              <a:t>Normalisation </a:t>
            </a:r>
            <a:endParaRPr lang="zh-CN" altLang="en-US"/>
          </a:p>
        </p:txBody>
      </p:sp>
      <p:sp>
        <p:nvSpPr>
          <p:cNvPr id="55" name="Text box" descr="Double tap to add text here&#13;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b="1">
                <a:cs typeface="Droid Sans" charset="0"/>
              </a:rPr>
              <a:t>UNF</a:t>
            </a:r>
            <a:r>
              <a:rPr lang="en-US" altLang="zh-CN">
                <a:cs typeface="Droid Sans" charset="0"/>
              </a:rPr>
              <a:t>: Data stored in one table with repeating items (multiple food items repeated for each order).</a:t>
            </a:r>
          </a:p>
          <a:p>
            <a:r>
              <a:rPr lang="en-US" altLang="zh-CN">
                <a:cs typeface="Droid Sans" charset="0"/>
              </a:rPr>
              <a:t>• </a:t>
            </a:r>
            <a:r>
              <a:rPr lang="en-US" altLang="zh-CN" b="1">
                <a:cs typeface="Droid Sans" charset="0"/>
              </a:rPr>
              <a:t>1NF</a:t>
            </a:r>
            <a:r>
              <a:rPr lang="en-US" altLang="zh-CN">
                <a:cs typeface="Droid Sans" charset="0"/>
              </a:rPr>
              <a:t>: Remove repeating groups → each food item stored in separate rows.</a:t>
            </a:r>
          </a:p>
          <a:p>
            <a:r>
              <a:rPr lang="en-US" altLang="zh-CN">
                <a:cs typeface="Droid Sans" charset="0"/>
              </a:rPr>
              <a:t>• </a:t>
            </a:r>
            <a:r>
              <a:rPr lang="en-US" altLang="zh-CN" b="1">
                <a:cs typeface="Droid Sans" charset="0"/>
              </a:rPr>
              <a:t>2NF</a:t>
            </a:r>
            <a:r>
              <a:rPr lang="en-US" altLang="zh-CN">
                <a:cs typeface="Droid Sans" charset="0"/>
              </a:rPr>
              <a:t>: Remove partial dependency → split into tables like Customer, Order, Food_Item, Order_Item.</a:t>
            </a:r>
          </a:p>
          <a:p>
            <a:r>
              <a:rPr lang="en-US" altLang="zh-CN">
                <a:cs typeface="Droid Sans" charset="0"/>
              </a:rPr>
              <a:t>• </a:t>
            </a:r>
            <a:r>
              <a:rPr lang="en-US" altLang="zh-CN" b="1">
                <a:cs typeface="Droid Sans" charset="0"/>
              </a:rPr>
              <a:t>3NF</a:t>
            </a:r>
            <a:r>
              <a:rPr lang="en-US" altLang="zh-CN">
                <a:cs typeface="Droid Sans" charset="0"/>
              </a:rPr>
              <a:t>: Remove transitive dependency → separate Category, Payment, Delivery, etc.</a:t>
            </a:r>
          </a:p>
          <a:p>
            <a:r>
              <a:rPr lang="en-US" altLang="zh-CN" b="1"/>
              <a:t>Result</a:t>
            </a:r>
          </a:p>
          <a:p>
            <a:r>
              <a:rPr lang="en-US" altLang="zh-CN"/>
              <a:t>No data duplication</a:t>
            </a:r>
          </a:p>
          <a:p>
            <a:r>
              <a:rPr lang="en-US" altLang="zh-CN"/>
              <a:t>Better data consistency</a:t>
            </a:r>
          </a:p>
          <a:p>
            <a:r>
              <a:rPr lang="en-US" altLang="zh-CN"/>
              <a:t>Efficient database structure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97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Database and Table Creation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41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Sql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CREATE TABLE Customer (  CustID INT PRIMARY KEY,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Name VARCHAR(50),  Email VARCHAR(50),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Phone VARCHAR(15))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endParaRPr lang="en-US" altLang="zh-CN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Show CREATE TABLE for all major tables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Define PRIMARY KEY, FOREIGN KEY, constraints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1330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" descr="Double tap to add title&#13;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/>
              <a:t>SQL Implementation and Queries </a:t>
            </a:r>
            <a:endParaRPr lang="zh-CN" altLang="en-US"/>
          </a:p>
        </p:txBody>
      </p:sp>
      <p:sp>
        <p:nvSpPr>
          <p:cNvPr id="60" name="Text box" descr="Double tap to add text here&#13;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47015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b="1"/>
              <a:t>Create</a:t>
            </a:r>
          </a:p>
          <a:p>
            <a:r>
              <a:rPr lang="en-US" altLang="zh-CN"/>
              <a:t>CREATE TABLE Customer (</a:t>
            </a:r>
          </a:p>
          <a:p>
            <a:r>
              <a:rPr lang="en-US" altLang="zh-CN"/>
              <a:t>  CustID INT PRIMARY KEY,</a:t>
            </a:r>
          </a:p>
          <a:p>
            <a:r>
              <a:rPr lang="en-US" altLang="zh-CN"/>
              <a:t>  Name VARCHAR(50),</a:t>
            </a:r>
          </a:p>
          <a:p>
            <a:r>
              <a:rPr lang="en-US" altLang="zh-CN"/>
              <a:t>  Phone VARCHAR(15),</a:t>
            </a:r>
          </a:p>
          <a:p>
            <a:r>
              <a:rPr lang="en-US" altLang="zh-CN"/>
              <a:t>  Email VARCHAR(50)</a:t>
            </a:r>
          </a:p>
          <a:p>
            <a:r>
              <a:rPr lang="en-US" altLang="zh-CN"/>
              <a:t>);</a:t>
            </a:r>
          </a:p>
          <a:p>
            <a:r>
              <a:rPr lang="en-US" altLang="zh-CN" b="1"/>
              <a:t>Insert</a:t>
            </a:r>
            <a:r>
              <a:rPr lang="en-US" altLang="zh-CN"/>
              <a:t> </a:t>
            </a:r>
          </a:p>
          <a:p>
            <a:r>
              <a:rPr lang="en-US" altLang="zh-CN"/>
              <a:t>INSERT INTO Menu VALUES </a:t>
            </a:r>
          </a:p>
          <a:p>
            <a:r>
              <a:rPr lang="en-US" altLang="zh-CN"/>
              <a:t>(1, 'Chicken Biryani', 120, 'Main Course');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56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box" descr="Double tap to add title&#13;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r>
              <a:rPr lang="en-US" altLang="zh-CN"/>
              <a:t>SQL Implementation and Queries </a:t>
            </a:r>
            <a:endParaRPr lang="zh-CN" altLang="en-US"/>
          </a:p>
        </p:txBody>
      </p:sp>
      <p:sp>
        <p:nvSpPr>
          <p:cNvPr id="62" name="Text box" descr="Double tap to add text here&#13;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altLang="zh-CN" b="1"/>
              <a:t>Select</a:t>
            </a:r>
            <a:r>
              <a:rPr lang="en-US" altLang="zh-CN"/>
              <a:t> </a:t>
            </a:r>
          </a:p>
          <a:p>
            <a:pPr indent="0">
              <a:buNone/>
            </a:pPr>
            <a:r>
              <a:rPr lang="en-US" altLang="zh-CN"/>
              <a:t>SELECT * FROM Menu;</a:t>
            </a:r>
          </a:p>
          <a:p>
            <a:pPr indent="0">
              <a:buNone/>
            </a:pPr>
            <a:r>
              <a:rPr lang="en-US" altLang="zh-CN" b="1"/>
              <a:t>Update</a:t>
            </a:r>
          </a:p>
          <a:p>
            <a:pPr indent="0">
              <a:buNone/>
            </a:pPr>
            <a:r>
              <a:rPr lang="en-US" altLang="zh-CN"/>
              <a:t>UPDATE Menu </a:t>
            </a:r>
          </a:p>
          <a:p>
            <a:pPr indent="0">
              <a:buNone/>
            </a:pPr>
            <a:r>
              <a:rPr lang="en-US" altLang="zh-CN"/>
              <a:t>SET Price = 150 </a:t>
            </a:r>
          </a:p>
          <a:p>
            <a:pPr indent="0">
              <a:buNone/>
            </a:pPr>
            <a:r>
              <a:rPr lang="en-US" altLang="zh-CN"/>
              <a:t>WHERE Name = 'Chicken Biryani';</a:t>
            </a:r>
          </a:p>
          <a:p>
            <a:pPr indent="0">
              <a:buNone/>
            </a:pPr>
            <a:r>
              <a:rPr lang="en-US" altLang="zh-CN" b="1"/>
              <a:t>Delete</a:t>
            </a:r>
          </a:p>
          <a:p>
            <a:pPr indent="0">
              <a:buNone/>
            </a:pPr>
            <a:r>
              <a:rPr lang="en-US" altLang="zh-CN"/>
              <a:t>DELETE FROM Menu </a:t>
            </a:r>
          </a:p>
          <a:p>
            <a:pPr indent="0">
              <a:buNone/>
            </a:pPr>
            <a:r>
              <a:rPr lang="en-US" altLang="zh-CN"/>
              <a:t>WHERE Name = 'Chicken Biryani';</a:t>
            </a:r>
          </a:p>
          <a:p>
            <a:pPr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760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Modules 1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43" name="Text box"/>
          <p:cNvSpPr>
            <a:spLocks noGrp="1"/>
          </p:cNvSpPr>
          <p:nvPr>
            <p:ph type="body" idx="1"/>
          </p:nvPr>
        </p:nvSpPr>
        <p:spPr>
          <a:xfrm>
            <a:off x="1097280" y="1909010"/>
            <a:ext cx="10058401" cy="396008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User Management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Customer Registration &amp; Login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Profile Update- Address Management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Tables: Customer, Login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70244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Modules 2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45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</a:t>
            </a: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Restaurant &amp; Menu Management</a:t>
            </a: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- 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Add / Update Restaurant details- 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Manage Menu Items and Prices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Category-wise item listing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Tables: Restaurant, Menu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9304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Modules 3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47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Order Management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Place Order, View Cart-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Order Status Update (Pending → Confirmed → Delivered)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Order History- Tables: Orders, OrderItems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8191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Modules 4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49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itchFamily="34" charset="0"/>
              <a:buChar char=" "/>
            </a:pPr>
            <a:r>
              <a:rPr lang="en-US" altLang="zh-CN" sz="2000" b="1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Payment &amp; Delivery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Payment processing (Cash / Online)-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Delivery partner assignment- 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Delivery status tracking- Tables: Payment, Delivery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255926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Challenges Faced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51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Maintaining referential integrity across tables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Handling concurrent orders efficiently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Normalizing without losing query performance</a:t>
            </a:r>
          </a:p>
          <a:p>
            <a:pPr marL="91440" indent="-91440" algn="just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Designing scalable schema for real-world use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48929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1" cy="145075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-5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Conclusion</a:t>
            </a:r>
            <a:endParaRPr lang="zh-CN" altLang="en-US" sz="4800" b="0" i="0" u="none" strike="noStrike" kern="1200" cap="none" spc="-5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  <p:sp>
        <p:nvSpPr>
          <p:cNvPr id="53" name="Text box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Successfully designed a normalized relational database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Implemented all CRUD operations using SQL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System supports real-world food ordering scenarios</a:t>
            </a:r>
          </a:p>
          <a:p>
            <a:pPr marL="91440" indent="-91440" algn="l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charset="0"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404040"/>
                </a:solidFill>
                <a:latin typeface="Arial" charset="0"/>
                <a:ea typeface="黑体" charset="0"/>
                <a:cs typeface="Lucida Sans"/>
              </a:rPr>
              <a:t> Future scope: Triggers, Stored Procedures, Web Integration</a:t>
            </a:r>
            <a:endParaRPr lang="zh-CN" altLang="en-US" sz="2000" b="0" i="0" u="none" strike="noStrike" kern="1200" cap="none" spc="0" baseline="0">
              <a:solidFill>
                <a:srgbClr val="404040"/>
              </a:solidFill>
              <a:latin typeface="Arial" charset="0"/>
              <a:ea typeface="黑体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343972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Retrospect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868</TotalTim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</vt:lpstr>
      <vt:lpstr>ONLINE FOOD ORDERING SYSTEM</vt:lpstr>
      <vt:lpstr>Problem Definition</vt:lpstr>
      <vt:lpstr>Objectives of the Project</vt:lpstr>
      <vt:lpstr>System Requirements</vt:lpstr>
      <vt:lpstr>System Architecture </vt:lpstr>
      <vt:lpstr>ER Diagram</vt:lpstr>
      <vt:lpstr>Relational Schema</vt:lpstr>
      <vt:lpstr>Normalisation </vt:lpstr>
      <vt:lpstr>Database and Table Creation</vt:lpstr>
      <vt:lpstr>SQL Implementation and Queries </vt:lpstr>
      <vt:lpstr>SQL Implementation and Queries </vt:lpstr>
      <vt:lpstr>Modules 1</vt:lpstr>
      <vt:lpstr>Modules 2</vt:lpstr>
      <vt:lpstr>Modules 3</vt:lpstr>
      <vt:lpstr>Modules 4</vt:lpstr>
      <vt:lpstr>Challenges Faced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ORDERING SYSTEM</dc:title>
  <dc:creator>Malarmannan</dc:creator>
  <cp:lastModifiedBy>Shobana 321</cp:lastModifiedBy>
  <cp:revision>5</cp:revision>
  <dcterms:created xsi:type="dcterms:W3CDTF">2026-02-07T14:22:29Z</dcterms:created>
  <dcterms:modified xsi:type="dcterms:W3CDTF">2026-05-06T04:13:28Z</dcterms:modified>
</cp:coreProperties>
</file>